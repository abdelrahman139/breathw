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nd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7200"/>
            <a:ext cx="5943600" cy="41790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731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38BDF8"/>
                </a:solidFill>
                <a:latin typeface="Arial"/>
              </a:defRPr>
            </a:pPr>
            <a:r>
              <a:t>BreathWise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AI Chest X-Ray Analysis and</a:t>
            </a:r>
            <a:br/>
            <a:r>
              <a:t>Clinical Decision Support System</a:t>
            </a:r>
          </a:p>
          <a:p>
            <a:pPr>
              <a:spcBef>
                <a:spcPts val="400"/>
              </a:spcBef>
              <a:defRPr sz="10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C8D2DC"/>
                </a:solidFill>
                <a:latin typeface="Arial"/>
              </a:defRPr>
            </a:pPr>
            <a:r>
              <a:t>University of Sadat City</a:t>
            </a:r>
          </a:p>
          <a:p>
            <a:pPr>
              <a:spcBef>
                <a:spcPts val="400"/>
              </a:spcBef>
              <a:defRPr sz="1400" b="0">
                <a:solidFill>
                  <a:srgbClr val="9CA3AF"/>
                </a:solidFill>
                <a:latin typeface="Arial"/>
              </a:defRPr>
            </a:pPr>
            <a:r>
              <a:t>Faculty of Computers and Artificial Intelligence</a:t>
            </a:r>
          </a:p>
          <a:p>
            <a:pPr>
              <a:spcBef>
                <a:spcPts val="400"/>
              </a:spcBef>
              <a:defRPr sz="1300" b="0">
                <a:solidFill>
                  <a:srgbClr val="9CA3AF"/>
                </a:solidFill>
                <a:latin typeface="Arial"/>
              </a:defRPr>
            </a:pPr>
            <a:r>
              <a:t>Department of Information Systems — Academic Year 2026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C8D2DC"/>
                </a:solidFill>
                <a:latin typeface="Arial"/>
              </a:defRPr>
            </a:pPr>
            <a:r>
              <a:t>AbdAlrahman Magdy    |    Mahmoud Gamal    |    Seif Mohamed</a:t>
            </a:r>
          </a:p>
          <a:p>
            <a:pPr>
              <a:spcBef>
                <a:spcPts val="400"/>
              </a:spcBef>
              <a:defRPr sz="1200" b="0">
                <a:solidFill>
                  <a:srgbClr val="C8D2DC"/>
                </a:solidFill>
                <a:latin typeface="Arial"/>
              </a:defRPr>
            </a:pPr>
            <a:r>
              <a:t>Mohamed Karam    |    Ahmed Eldamasy    |    Mahmoud Fadl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1300" b="1">
                <a:solidFill>
                  <a:srgbClr val="38BDF8"/>
                </a:solidFill>
                <a:latin typeface="Arial"/>
              </a:defRPr>
            </a:pPr>
            <a:r>
              <a:t>Supervised by:</a:t>
            </a:r>
          </a:p>
          <a:p>
            <a:pPr>
              <a:spcBef>
                <a:spcPts val="400"/>
              </a:spcBef>
              <a:defRPr sz="1300" b="0">
                <a:solidFill>
                  <a:srgbClr val="C8D2DC"/>
                </a:solidFill>
                <a:latin typeface="Arial"/>
              </a:defRPr>
            </a:pPr>
            <a:r>
              <a:t>Prof. Engy Elshafey   &amp;   Prof. Asmaa Saad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🏥  Radiologist Shortage &amp; Burnout</a:t>
            </a:r>
          </a:p>
          <a:p>
            <a:pPr>
              <a:spcBef>
                <a:spcPts val="400"/>
              </a:spcBef>
              <a:defRPr sz="1400" b="0">
                <a:solidFill>
                  <a:srgbClr val="9CA3AF"/>
                </a:solidFill>
                <a:latin typeface="Arial"/>
              </a:defRPr>
            </a:pPr>
            <a:r>
              <a:t>Imaging volume growing faster than radiologist training. Cognitive fatigue → diagnostic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⏱️  Diagnostic Delay in Emergencies</a:t>
            </a:r>
          </a:p>
          <a:p>
            <a:pPr>
              <a:spcBef>
                <a:spcPts val="400"/>
              </a:spcBef>
              <a:defRPr sz="1400" b="0">
                <a:solidFill>
                  <a:srgbClr val="9CA3AF"/>
                </a:solidFill>
                <a:latin typeface="Arial"/>
              </a:defRPr>
            </a:pPr>
            <a:r>
              <a:t>Hours of delay detecting Pneumothorax in ER/ICU can be fatal.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🔀  Inter-Observer Variability</a:t>
            </a:r>
          </a:p>
          <a:p>
            <a:pPr>
              <a:spcBef>
                <a:spcPts val="400"/>
              </a:spcBef>
              <a:defRPr sz="1400" b="0">
                <a:solidFill>
                  <a:srgbClr val="9CA3AF"/>
                </a:solidFill>
                <a:latin typeface="Arial"/>
              </a:defRPr>
            </a:pPr>
            <a:r>
              <a:t>Same X-ray, different diagnoses depending on the reader and experience level.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023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🔒  The 'Black Box' Barrier</a:t>
            </a:r>
          </a:p>
          <a:p>
            <a:pPr>
              <a:spcBef>
                <a:spcPts val="400"/>
              </a:spcBef>
              <a:defRPr sz="1400" b="0">
                <a:solidFill>
                  <a:srgbClr val="9CA3AF"/>
                </a:solidFill>
                <a:latin typeface="Arial"/>
              </a:defRPr>
            </a:pPr>
            <a:r>
              <a:t>Clinicians distrust AI that can't visually explain its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Disease Burden — Why These 4 Conditions?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Pneumonia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554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Arial"/>
              </a:defRPr>
            </a:pPr>
            <a:r>
              <a:t>450M cases/yr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Leading infectious killer in children under 5 (740K deaths/yr)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Cardiomegaly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7889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Arial"/>
              </a:defRPr>
            </a:pPr>
            <a:r>
              <a:t>64M cases/yr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88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Heart failure, cardiomyopathy — high mortality &amp; hospitalization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Pleural Effusion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023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Arial"/>
              </a:defRPr>
            </a:pPr>
            <a:r>
              <a:t>10M cases/yr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Secondary to heart failure, pneumonia, and malignancies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Pneumothorax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2578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Arial"/>
              </a:defRPr>
            </a:pPr>
            <a:r>
              <a:t>0.5M cases/yr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257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Acute life-threatening emergency requiring immediate intervention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🎯  High-Accuracy Classification</a:t>
            </a:r>
          </a:p>
          <a:p>
            <a:pPr>
              <a:spcBef>
                <a:spcPts val="400"/>
              </a:spcBef>
              <a:defRPr sz="1500" b="0">
                <a:solidFill>
                  <a:srgbClr val="9CA3AF"/>
                </a:solidFill>
                <a:latin typeface="Arial"/>
              </a:defRPr>
            </a:pPr>
            <a:r>
              <a:t>Multi-label prediction with &gt;90% accuracy across all thoracic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⚡  Near Real-Time Inference</a:t>
            </a:r>
          </a:p>
          <a:p>
            <a:pPr>
              <a:spcBef>
                <a:spcPts val="400"/>
              </a:spcBef>
              <a:defRPr sz="1500" b="0">
                <a:solidFill>
                  <a:srgbClr val="9CA3AF"/>
                </a:solidFill>
                <a:latin typeface="Arial"/>
              </a:defRPr>
            </a:pPr>
            <a:r>
              <a:t>&lt;0.5s per scan (single pass), ~2s with Test-Time Augmentation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👁️  Explainability by Design</a:t>
            </a:r>
          </a:p>
          <a:p>
            <a:pPr>
              <a:spcBef>
                <a:spcPts val="400"/>
              </a:spcBef>
              <a:defRPr sz="1500" b="0">
                <a:solidFill>
                  <a:srgbClr val="9CA3AF"/>
                </a:solidFill>
                <a:latin typeface="Arial"/>
              </a:defRPr>
            </a:pPr>
            <a:r>
              <a:t>Grad-CAM heatmaps overlaying every prediction to break the 'black box'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📋  Clinical Workspace</a:t>
            </a:r>
          </a:p>
          <a:p>
            <a:pPr>
              <a:spcBef>
                <a:spcPts val="400"/>
              </a:spcBef>
              <a:defRPr sz="1500" b="0">
                <a:solidFill>
                  <a:srgbClr val="9CA3AF"/>
                </a:solidFill>
                <a:latin typeface="Arial"/>
              </a:defRPr>
            </a:pPr>
            <a:r>
              <a:t>Patient tracking, scan histories, automated PDF reports with QuestPDF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System Architecture (3-Tier Microservices)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Arial"/>
              </a:defRPr>
            </a:pPr>
            <a:r>
              <a:t>React Frontend</a:t>
            </a:r>
          </a:p>
          <a:p>
            <a:pPr>
              <a:spcBef>
                <a:spcPts val="400"/>
              </a:spcBef>
              <a:defRPr sz="1400" b="0">
                <a:solidFill>
                  <a:srgbClr val="9CA3AF"/>
                </a:solidFill>
                <a:latin typeface="Arial"/>
              </a:defRPr>
            </a:pPr>
            <a:r>
              <a:t>Port 5173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1400" b="0">
                <a:solidFill>
                  <a:srgbClr val="C8D2DC"/>
                </a:solidFill>
                <a:latin typeface="Arial"/>
              </a:defRPr>
            </a:pPr>
            <a:r>
              <a:t>TypeScript, Vite, TailwindCSS</a:t>
            </a:r>
            <a:br/>
            <a:r>
              <a:t>Recharts, Axios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Arial"/>
              </a:defRPr>
            </a:pPr>
            <a:r>
              <a:t>ASP.NET Core 8</a:t>
            </a:r>
            <a:br/>
            <a:r>
              <a:t>Backend</a:t>
            </a:r>
          </a:p>
          <a:p>
            <a:pPr>
              <a:spcBef>
                <a:spcPts val="400"/>
              </a:spcBef>
              <a:defRPr sz="1400" b="0">
                <a:solidFill>
                  <a:srgbClr val="9CA3AF"/>
                </a:solidFill>
                <a:latin typeface="Arial"/>
              </a:defRPr>
            </a:pPr>
            <a:r>
              <a:t>Port 5169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1400" b="0">
                <a:solidFill>
                  <a:srgbClr val="C8D2DC"/>
                </a:solidFill>
                <a:latin typeface="Arial"/>
              </a:defRPr>
            </a:pPr>
            <a:r>
              <a:t>C#, EF Core, SQL Server</a:t>
            </a:r>
            <a:br/>
            <a:r>
              <a:t>JWT + RBAC, QuestPDF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8288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Arial"/>
              </a:defRPr>
            </a:pPr>
            <a:r>
              <a:t>FastAPI / PyTorch</a:t>
            </a:r>
            <a:br/>
            <a:r>
              <a:t>AI Service</a:t>
            </a:r>
          </a:p>
          <a:p>
            <a:pPr>
              <a:spcBef>
                <a:spcPts val="400"/>
              </a:spcBef>
              <a:defRPr sz="1400" b="0">
                <a:solidFill>
                  <a:srgbClr val="9CA3AF"/>
                </a:solidFill>
                <a:latin typeface="Arial"/>
              </a:defRPr>
            </a:pPr>
            <a:r>
              <a:t>Port 8000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1400" b="0">
                <a:solidFill>
                  <a:srgbClr val="C8D2DC"/>
                </a:solidFill>
                <a:latin typeface="Arial"/>
              </a:defRPr>
            </a:pPr>
            <a:r>
              <a:t>Python, DenseNet-121</a:t>
            </a:r>
            <a:br/>
            <a:r>
              <a:t>Grad-CAM, OpenCV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Arial"/>
              </a:defRPr>
            </a:pPr>
            <a:r>
              <a:t>Backend acts as secure proxy → AI service never exposed to public internet. Internal auth: Authorization: internal-key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Arial"/>
              </a:defRPr>
            </a:pPr>
            <a:r>
              <a:t>Frontend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React 19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TypeScript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Vite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TailwindCSS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Recharts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Axios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D399"/>
                </a:solidFill>
                <a:latin typeface="Arial"/>
              </a:defRPr>
            </a:pPr>
            <a:r>
              <a:t>Backend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C# .NET 8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ASP.NET Core 8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Entity Framework Core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SQL Server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QuestPDF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JWT +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  <a:latin typeface="Arial"/>
              </a:defRPr>
            </a:pPr>
            <a:r>
              <a:t>AI Service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Python 3.12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FastAPI + Uvicorn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PyTorch (DenseNet-121)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OpenCV + PIL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torchvision</a:t>
            </a:r>
          </a:p>
          <a:p>
            <a:pPr>
              <a:spcBef>
                <a:spcPts val="300"/>
              </a:spcBef>
              <a:defRPr sz="1500">
                <a:solidFill>
                  <a:srgbClr val="C8D2DC"/>
                </a:solidFill>
                <a:latin typeface="Arial"/>
              </a:defRPr>
            </a:pPr>
            <a:r>
              <a:t>•  Grad-CAM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Arial"/>
              </a:defRPr>
            </a:pPr>
            <a:r>
              <a:t>End-to-End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1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Upload</a:t>
            </a:r>
          </a:p>
          <a:p>
            <a:pPr>
              <a:spcBef>
                <a:spcPts val="400"/>
              </a:spcBef>
              <a:defRPr sz="1200" b="0">
                <a:solidFill>
                  <a:srgbClr val="9CA3AF"/>
                </a:solidFill>
                <a:latin typeface="Arial"/>
              </a:defRPr>
            </a:pPr>
            <a:r>
              <a:t>Doctor uploads X-ray</a:t>
            </a:r>
            <a:br/>
            <a:r>
              <a:t>via React drag-and-drop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64592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2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Save</a:t>
            </a:r>
          </a:p>
          <a:p>
            <a:pPr>
              <a:spcBef>
                <a:spcPts val="400"/>
              </a:spcBef>
              <a:defRPr sz="1200" b="0">
                <a:solidFill>
                  <a:srgbClr val="9CA3AF"/>
                </a:solidFill>
                <a:latin typeface="Arial"/>
              </a:defRPr>
            </a:pPr>
            <a:r>
              <a:t>C# saves image as</a:t>
            </a:r>
            <a:br/>
            <a:r>
              <a:t>wwwroot/uploads/[GUID].png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64592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3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AI Call</a:t>
            </a:r>
          </a:p>
          <a:p>
            <a:pPr>
              <a:spcBef>
                <a:spcPts val="400"/>
              </a:spcBef>
              <a:defRPr sz="1200" b="0">
                <a:solidFill>
                  <a:srgbClr val="9CA3AF"/>
                </a:solidFill>
                <a:latin typeface="Arial"/>
              </a:defRPr>
            </a:pPr>
            <a:r>
              <a:t>C# sends internal POST</a:t>
            </a:r>
            <a:br/>
            <a:r>
              <a:t>to localhost:8000/predict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4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Inference</a:t>
            </a:r>
          </a:p>
          <a:p>
            <a:pPr>
              <a:spcBef>
                <a:spcPts val="400"/>
              </a:spcBef>
              <a:defRPr sz="1200" b="0">
                <a:solidFill>
                  <a:srgbClr val="9CA3AF"/>
                </a:solidFill>
                <a:latin typeface="Arial"/>
              </a:defRPr>
            </a:pPr>
            <a:r>
              <a:t>Python runs DenseNet-121</a:t>
            </a:r>
            <a:br/>
            <a:r>
              <a:t>+ TTA (3 passes) + Grad-CAM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4592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5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DB Write</a:t>
            </a:r>
          </a:p>
          <a:p>
            <a:pPr>
              <a:spcBef>
                <a:spcPts val="400"/>
              </a:spcBef>
              <a:defRPr sz="1200" b="0">
                <a:solidFill>
                  <a:srgbClr val="9CA3AF"/>
                </a:solidFill>
                <a:latin typeface="Arial"/>
              </a:defRPr>
            </a:pPr>
            <a:r>
              <a:t>C# decodes base64 heatmap</a:t>
            </a:r>
            <a:br/>
            <a:r>
              <a:t>writes ScanResult to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645920"/>
            <a:ext cx="1737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6</a:t>
            </a:r>
          </a:p>
          <a:p>
            <a:pPr>
              <a:spcBef>
                <a:spcPts val="400"/>
              </a:spcBef>
              <a:defRPr sz="1800" b="1">
                <a:solidFill>
                  <a:srgbClr val="FFFFFF"/>
                </a:solidFill>
                <a:latin typeface="Arial"/>
              </a:defRPr>
            </a:pPr>
            <a:r>
              <a:t>Display</a:t>
            </a:r>
          </a:p>
          <a:p>
            <a:pPr>
              <a:spcBef>
                <a:spcPts val="400"/>
              </a:spcBef>
              <a:defRPr sz="1200" b="0">
                <a:solidFill>
                  <a:srgbClr val="9CA3AF"/>
                </a:solidFill>
                <a:latin typeface="Arial"/>
              </a:defRPr>
            </a:pPr>
            <a:r>
              <a:t>React renders diagnosis</a:t>
            </a:r>
            <a:br/>
            <a:r>
              <a:t>+ interactive heatmap toggle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Arial"/>
              </a:defRPr>
            </a:pPr>
            <a:r>
              <a:t>The AI Model — DenseNet-121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Arial"/>
              </a:defRPr>
            </a:pPr>
            <a:r>
              <a:t>Dense Connectivity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Each layer receives feature maps from ALL preceding layers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Growth Rate k = 32 (new feature maps per layer)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Transition Layers: 1×1 conv + 2×2 avg pool between blocks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2200" b="1">
                <a:solidFill>
                  <a:srgbClr val="34D399"/>
                </a:solidFill>
                <a:latin typeface="Arial"/>
              </a:defRPr>
            </a:pPr>
            <a:r>
              <a:t>Classifier Head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nn.Linear(1024, 5) — 5 output logits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Loss: BCEWithLogitsLoss (Binary Cross-Entropy)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Optimizer: Adam, LR = 1e-4, Batch Size = 32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2000" b="1">
                <a:solidFill>
                  <a:srgbClr val="FBBF24"/>
                </a:solidFill>
                <a:latin typeface="Arial"/>
              </a:defRPr>
            </a:pPr>
            <a:r>
              <a:t>Why DenseNet over ResNet?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1024 output features (vs ResNet's 2048) → more compact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Better gradient flow through all layers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Explainability — Grad-CAM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Arial"/>
              </a:defRPr>
            </a:pPr>
            <a:r>
              <a:t>Breaking the Black Box</a:t>
            </a:r>
          </a:p>
          <a:p>
            <a:pPr>
              <a:spcBef>
                <a:spcPts val="300"/>
              </a:spcBef>
              <a:defRPr sz="1300">
                <a:solidFill>
                  <a:srgbClr val="C8D2DC"/>
                </a:solidFill>
                <a:latin typeface="Arial"/>
              </a:defRPr>
            </a:pPr>
            <a:r>
              <a:t>Computes gradients of class score vs DenseBlock4 activations</a:t>
            </a:r>
          </a:p>
          <a:p>
            <a:pPr>
              <a:spcBef>
                <a:spcPts val="300"/>
              </a:spcBef>
              <a:defRPr sz="1300">
                <a:solidFill>
                  <a:srgbClr val="C8D2DC"/>
                </a:solidFill>
                <a:latin typeface="Arial"/>
              </a:defRPr>
            </a:pPr>
            <a:r>
              <a:t>Global Average Pooling → importance weights α</a:t>
            </a:r>
          </a:p>
          <a:p>
            <a:pPr>
              <a:spcBef>
                <a:spcPts val="300"/>
              </a:spcBef>
              <a:defRPr sz="1300">
                <a:solidFill>
                  <a:srgbClr val="C8D2DC"/>
                </a:solidFill>
                <a:latin typeface="Arial"/>
              </a:defRPr>
            </a:pPr>
            <a:r>
              <a:t>Weighted sum → ReLU → upsampled to 224×224</a:t>
            </a:r>
          </a:p>
          <a:p>
            <a:pPr>
              <a:spcBef>
                <a:spcPts val="300"/>
              </a:spcBef>
              <a:defRPr sz="1300">
                <a:solidFill>
                  <a:srgbClr val="C8D2DC"/>
                </a:solidFill>
                <a:latin typeface="Arial"/>
              </a:defRPr>
            </a:pPr>
            <a:r>
              <a:t>Mapped to JET color palette, blended α=0.4</a:t>
            </a:r>
          </a:p>
          <a:p>
            <a:pPr>
              <a:spcBef>
                <a:spcPts val="300"/>
              </a:spcBef>
              <a:defRPr sz="1300">
                <a:solidFill>
                  <a:srgbClr val="C8D2DC"/>
                </a:solidFill>
                <a:latin typeface="Arial"/>
              </a:defRPr>
            </a:pPr>
            <a:r>
              <a:t>3 View Modes: Original | Overlay | Side-by-Side</a:t>
            </a:r>
          </a:p>
        </p:txBody>
      </p:sp>
      <p:pic>
        <p:nvPicPr>
          <p:cNvPr id="5" name="Picture 4" descr="analysis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6400800" cy="46193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Arial"/>
              </a:defRPr>
            </a:pPr>
            <a:r>
              <a:t>Dataset &amp; Class Balancing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Arial"/>
              </a:defRPr>
            </a:pPr>
            <a:r>
              <a:t>Original NIH ChestX-ray14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112,120 images — 30,805 patients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15 finding labels (14 pathologies + No Finding)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Heavily imbalanced: No Finding = 60,361 (53.8%)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Rarest: Hernia = 227 (0.2%)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1400" b="0">
                <a:solidFill>
                  <a:srgbClr val="F87171"/>
                </a:solidFill>
                <a:latin typeface="Arial"/>
              </a:defRPr>
            </a:pPr>
            <a:r>
              <a:t>Problem: Training on raw data → biased model that always predicts 'Healthy'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Arial"/>
              </a:defRPr>
            </a:pPr>
            <a:r>
              <a:t>Filtered &amp; Balanced (BreathWise)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Filtered to 5 target conditions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Balanced to 5,500 per class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Total: 27,500 images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Train: 22,000 (80%) / Val: 5,500 (20%)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9CA3AF"/>
                </a:solidFill>
                <a:latin typeface="Arial"/>
              </a:defRPr>
            </a:pPr>
            <a:r>
              <a:t>Pneumonia (1,431 → 5,500) via oversampling with replacement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Training &amp;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inin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72161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Per-Class Performance (Classification Report)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Arial"/>
              </a:defRPr>
            </a:pPr>
            <a:r>
              <a:t>Condition           Precision           Recall              F1-Score            Support         </a:t>
            </a:r>
          </a:p>
          <a:p>
            <a:pPr>
              <a:spcBef>
                <a:spcPts val="400"/>
              </a:spcBef>
              <a:defRPr sz="1500" b="0">
                <a:solidFill>
                  <a:srgbClr val="34D399"/>
                </a:solidFill>
                <a:latin typeface="Arial"/>
              </a:defRPr>
            </a:pPr>
            <a:r>
              <a:t>Cardiomegaly ★      0.82                0.85                0.84                1,250           </a:t>
            </a:r>
          </a:p>
          <a:p>
            <a:pPr>
              <a:spcBef>
                <a:spcPts val="400"/>
              </a:spcBef>
              <a:defRPr sz="1500" b="0">
                <a:solidFill>
                  <a:srgbClr val="C8D2DC"/>
                </a:solidFill>
                <a:latin typeface="Arial"/>
              </a:defRPr>
            </a:pPr>
            <a:r>
              <a:t>Pneumonia           0.85                0.77                0.81                1,148           </a:t>
            </a:r>
          </a:p>
          <a:p>
            <a:pPr>
              <a:spcBef>
                <a:spcPts val="400"/>
              </a:spcBef>
              <a:defRPr sz="1500" b="0">
                <a:solidFill>
                  <a:srgbClr val="C8D2DC"/>
                </a:solidFill>
                <a:latin typeface="Arial"/>
              </a:defRPr>
            </a:pPr>
            <a:r>
              <a:t>Pneumothorax        0.79                0.76                0.77                1,194           </a:t>
            </a:r>
          </a:p>
          <a:p>
            <a:pPr>
              <a:spcBef>
                <a:spcPts val="400"/>
              </a:spcBef>
              <a:defRPr sz="1500" b="0">
                <a:solidFill>
                  <a:srgbClr val="C8D2DC"/>
                </a:solidFill>
                <a:latin typeface="Arial"/>
              </a:defRPr>
            </a:pPr>
            <a:r>
              <a:t>Pleural Effusion    0.79                0.72                0.75                1,928           </a:t>
            </a:r>
          </a:p>
          <a:p>
            <a:pPr>
              <a:spcBef>
                <a:spcPts val="400"/>
              </a:spcBef>
              <a:defRPr sz="1500" b="0">
                <a:solidFill>
                  <a:srgbClr val="C8D2DC"/>
                </a:solidFill>
                <a:latin typeface="Arial"/>
              </a:defRPr>
            </a:pPr>
            <a:r>
              <a:t>No Finding          0.73                0.66                0.69                1,113           </a:t>
            </a:r>
          </a:p>
          <a:p>
            <a:pPr>
              <a:spcBef>
                <a:spcPts val="400"/>
              </a:spcBef>
              <a:defRPr sz="1500" b="0">
                <a:solidFill>
                  <a:srgbClr val="34D399"/>
                </a:solidFill>
                <a:latin typeface="Arial"/>
              </a:defRPr>
            </a:pPr>
            <a:r>
              <a:t>Macro Avg           0.80                0.75                0.77                6,633    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Arial"/>
              </a:defRPr>
            </a:pPr>
            <a:r>
              <a:t>★ Cardiomegaly = highest F1 (0.84) due to distinct visual signature of enlarged heart</a:t>
            </a:r>
            <a:br/>
            <a:r>
              <a:t>  No Finding = lowest F1 (0.69) — expected, as it represents absence of features. Mitigated by mathematical derivation in production.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Arial"/>
              </a:defRPr>
            </a:pPr>
            <a:r>
              <a:t>Post-Training Optimizations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Arial"/>
              </a:defRPr>
            </a:pPr>
            <a:r>
              <a:t>Optimal Threshold Tuning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Default 0.5 → sweep 0.0–1.0, maximize F1 per class</a:t>
            </a:r>
          </a:p>
          <a:p>
            <a:pPr>
              <a:spcBef>
                <a:spcPts val="400"/>
              </a:spcBef>
              <a:defRPr sz="4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C8D2DC"/>
                </a:solidFill>
                <a:latin typeface="Arial"/>
              </a:defRPr>
            </a:pPr>
            <a:r>
              <a:t>Pneumonia: 0.39</a:t>
            </a:r>
          </a:p>
          <a:p>
            <a:pPr>
              <a:spcBef>
                <a:spcPts val="300"/>
              </a:spcBef>
              <a:defRPr sz="1400">
                <a:solidFill>
                  <a:srgbClr val="C8D2DC"/>
                </a:solidFill>
                <a:latin typeface="Arial"/>
              </a:defRPr>
            </a:pPr>
            <a:r>
              <a:t>Effusion: 0.45</a:t>
            </a:r>
          </a:p>
          <a:p>
            <a:pPr>
              <a:spcBef>
                <a:spcPts val="300"/>
              </a:spcBef>
              <a:defRPr sz="1400">
                <a:solidFill>
                  <a:srgbClr val="C8D2DC"/>
                </a:solidFill>
                <a:latin typeface="Arial"/>
              </a:defRPr>
            </a:pPr>
            <a:r>
              <a:t>Cardiomegaly: 0.54</a:t>
            </a:r>
          </a:p>
          <a:p>
            <a:pPr>
              <a:spcBef>
                <a:spcPts val="300"/>
              </a:spcBef>
              <a:defRPr sz="1400">
                <a:solidFill>
                  <a:srgbClr val="C8D2DC"/>
                </a:solidFill>
                <a:latin typeface="Arial"/>
              </a:defRPr>
            </a:pPr>
            <a:r>
              <a:t>Pneumothorax: 0.39</a:t>
            </a:r>
          </a:p>
          <a:p>
            <a:pPr>
              <a:spcBef>
                <a:spcPts val="300"/>
              </a:spcBef>
              <a:defRPr sz="1400">
                <a:solidFill>
                  <a:srgbClr val="C8D2DC"/>
                </a:solidFill>
                <a:latin typeface="Arial"/>
              </a:defRPr>
            </a:pPr>
            <a:r>
              <a:t>No Finding: 0.43</a:t>
            </a:r>
          </a:p>
          <a:p>
            <a:pPr>
              <a:spcBef>
                <a:spcPts val="400"/>
              </a:spcBef>
              <a:defRPr sz="4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FBBF24"/>
                </a:solidFill>
                <a:latin typeface="Arial"/>
              </a:defRPr>
            </a:pPr>
            <a:r>
              <a:t>Acute conditions get lower thresholds → higher sensitivity → fewer missed diagnoses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Arial"/>
              </a:defRPr>
            </a:pPr>
            <a:r>
              <a:t>Test-Time Augmentation (TTA)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3 predictions per image:</a:t>
            </a:r>
          </a:p>
          <a:p>
            <a:pPr lvl="1"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Original + H-Flip + 10° Rotation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Final = arithmetic mean of 3 sigmoid outputs</a:t>
            </a:r>
          </a:p>
          <a:p>
            <a:pPr>
              <a:spcBef>
                <a:spcPts val="400"/>
              </a:spcBef>
              <a:defRPr sz="8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1800" b="1">
                <a:solidFill>
                  <a:srgbClr val="FBBF24"/>
                </a:solidFill>
                <a:latin typeface="Arial"/>
              </a:defRPr>
            </a:pPr>
            <a:r>
              <a:t>Progressive Accuracy:</a:t>
            </a:r>
          </a:p>
          <a:p>
            <a:pPr>
              <a:spcBef>
                <a:spcPts val="300"/>
              </a:spcBef>
              <a:defRPr sz="1400">
                <a:solidFill>
                  <a:srgbClr val="C8D2DC"/>
                </a:solidFill>
                <a:latin typeface="Arial"/>
              </a:defRPr>
            </a:pPr>
            <a:r>
              <a:t>Baseline (0.5): 89.37%</a:t>
            </a:r>
          </a:p>
          <a:p>
            <a:pPr>
              <a:spcBef>
                <a:spcPts val="300"/>
              </a:spcBef>
              <a:defRPr sz="1400">
                <a:solidFill>
                  <a:srgbClr val="C8D2DC"/>
                </a:solidFill>
                <a:latin typeface="Arial"/>
              </a:defRPr>
            </a:pPr>
            <a:r>
              <a:t>+ Thresholds: 89.33%</a:t>
            </a:r>
          </a:p>
          <a:p>
            <a:pPr>
              <a:spcBef>
                <a:spcPts val="300"/>
              </a:spcBef>
              <a:defRPr sz="1400">
                <a:solidFill>
                  <a:srgbClr val="34D399"/>
                </a:solidFill>
                <a:latin typeface="Arial"/>
              </a:defRPr>
            </a:pPr>
            <a:r>
              <a:t>+ TTA: 89.67% 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Doctor Dashboard — Clinical Workspace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10690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KPI Cards (Total Patients, Total Scans, High Risk Cases) • Detection Distribution Chart • Healthy vs At Risk Donut • Recent Scans with Risk Badges • Scans Over Time (Last 7 Days)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AI Diagnosis &amp; Grad-CAM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nalysis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74569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Grad-CAM Side-by-Side View • Original X-ray vs Heatmap Overlay • AI Diagnosis Panel with Risk Badges • Download PDF Report Button • Doctor's Notes Section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Automated Clinical PDF 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Arial"/>
              </a:defRPr>
            </a:pPr>
            <a:r>
              <a:t>QuestPDF Report Engine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Professional radiology report layout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Patient demographics &amp; study info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AI Predictive Analysis with probability bars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Overall Risk Severity Gauge (Low / Moderate / High)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Probability Distribution Chart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Clinical Impression with recommendations</a:t>
            </a:r>
          </a:p>
          <a:p>
            <a:pPr>
              <a:spcBef>
                <a:spcPts val="300"/>
              </a:spcBef>
              <a:defRPr sz="1600">
                <a:solidFill>
                  <a:srgbClr val="C8D2DC"/>
                </a:solidFill>
                <a:latin typeface="Arial"/>
              </a:defRPr>
            </a:pPr>
            <a:r>
              <a:t>Attached X-ray + Grad-CAM heatmap images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9CA3AF"/>
                </a:solidFill>
                <a:latin typeface="Arial"/>
              </a:defRPr>
            </a:pPr>
            <a:r>
              <a:t>Generated via C# QuestPDF — instant compilation</a:t>
            </a:r>
          </a:p>
          <a:p>
            <a:pPr>
              <a:spcBef>
                <a:spcPts val="400"/>
              </a:spcBef>
              <a:defRPr sz="1300" b="0">
                <a:solidFill>
                  <a:srgbClr val="FBBF24"/>
                </a:solidFill>
                <a:latin typeface="Arial"/>
              </a:defRPr>
            </a:pPr>
            <a:r>
              <a:t>Requires clinician's electronic signature (human-in-the-loop)</a:t>
            </a:r>
          </a:p>
        </p:txBody>
      </p:sp>
      <p:pic>
        <p:nvPicPr>
          <p:cNvPr id="5" name="Picture 4" descr="pdf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4633117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Arial"/>
              </a:defRPr>
            </a:pPr>
            <a:r>
              <a:t>Security &amp; Regulatory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🔐  JWT Authentication</a:t>
            </a:r>
          </a:p>
          <a:p>
            <a:pPr>
              <a:spcBef>
                <a:spcPts val="400"/>
              </a:spcBef>
              <a:defRPr sz="1400" b="0">
                <a:solidFill>
                  <a:srgbClr val="9CA3AF"/>
                </a:solidFill>
                <a:latin typeface="Arial"/>
              </a:defRPr>
            </a:pPr>
            <a:r>
              <a:t>24-hour token expiry, validated on every API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👥  Role-Based Access (RBAC)</a:t>
            </a:r>
          </a:p>
          <a:p>
            <a:pPr>
              <a:spcBef>
                <a:spcPts val="400"/>
              </a:spcBef>
              <a:defRPr sz="1400" b="0">
                <a:solidFill>
                  <a:srgbClr val="9CA3AF"/>
                </a:solidFill>
                <a:latin typeface="Arial"/>
              </a:defRPr>
            </a:pPr>
            <a:r>
              <a:t>Doctor (full CRUD), Patient (read-only own data),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🔑  PBKDF2 Password Hashing</a:t>
            </a:r>
          </a:p>
          <a:p>
            <a:pPr>
              <a:spcBef>
                <a:spcPts val="400"/>
              </a:spcBef>
              <a:defRPr sz="1400" b="0">
                <a:solidFill>
                  <a:srgbClr val="9CA3AF"/>
                </a:solidFill>
                <a:latin typeface="Arial"/>
              </a:defRPr>
            </a:pPr>
            <a:r>
              <a:t>HMAC-SHA256 + unique 128-bit salt per user, 10,000 iterations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🏷️  Anonymized GUID Filenames</a:t>
            </a:r>
          </a:p>
          <a:p>
            <a:pPr>
              <a:spcBef>
                <a:spcPts val="400"/>
              </a:spcBef>
              <a:defRPr sz="1400" b="0">
                <a:solidFill>
                  <a:srgbClr val="9CA3AF"/>
                </a:solidFill>
                <a:latin typeface="Arial"/>
              </a:defRPr>
            </a:pPr>
            <a:r>
              <a:t>X-rays saved as 8c4e2a87-19db-4382.png — no patient names on disk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rial"/>
              </a:defRPr>
            </a:pPr>
            <a:r>
              <a:t>📜  HIPAA/GDPR Alignment</a:t>
            </a:r>
          </a:p>
          <a:p>
            <a:pPr>
              <a:spcBef>
                <a:spcPts val="400"/>
              </a:spcBef>
              <a:defRPr sz="1400" b="0">
                <a:solidFill>
                  <a:srgbClr val="9CA3AF"/>
                </a:solidFill>
                <a:latin typeface="Arial"/>
              </a:defRPr>
            </a:pPr>
            <a:r>
              <a:t>Query-level isolation matches JWT identity claims. 17 secured API endpoints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Arial"/>
              </a:defRPr>
            </a:pPr>
            <a:r>
              <a:t>Reliability — Graceful Degradation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7171"/>
                </a:solidFill>
                <a:latin typeface="Arial"/>
              </a:defRPr>
            </a:pPr>
            <a:r>
              <a:t>1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AI Service DOWN</a:t>
            </a:r>
          </a:p>
          <a:p>
            <a:pPr>
              <a:spcBef>
                <a:spcPts val="400"/>
              </a:spcBef>
              <a:defRPr sz="1400" b="0">
                <a:solidFill>
                  <a:srgbClr val="9CA3AF"/>
                </a:solidFill>
                <a:latin typeface="Arial"/>
              </a:defRPr>
            </a:pPr>
            <a:r>
              <a:t>Network timeout, crash,</a:t>
            </a:r>
            <a:br/>
            <a:r>
              <a:t>or GPU unavailable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BBF24"/>
                </a:solidFill>
                <a:latin typeface="Arial"/>
              </a:defRPr>
            </a:pPr>
            <a:r>
              <a:t>2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C# Catch Block</a:t>
            </a:r>
          </a:p>
          <a:p>
            <a:pPr>
              <a:spcBef>
                <a:spcPts val="400"/>
              </a:spcBef>
              <a:defRPr sz="1400" b="0">
                <a:solidFill>
                  <a:srgbClr val="9CA3AF"/>
                </a:solidFill>
                <a:latin typeface="Arial"/>
              </a:defRPr>
            </a:pPr>
            <a:r>
              <a:t>AiService catches exception</a:t>
            </a:r>
            <a:br/>
            <a:r>
              <a:t>→ falls back to GetMockScores()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4D399"/>
                </a:solidFill>
                <a:latin typeface="Arial"/>
              </a:defRPr>
            </a:pPr>
            <a:r>
              <a:t>3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UI Uninterrupted</a:t>
            </a:r>
          </a:p>
          <a:p>
            <a:pPr>
              <a:spcBef>
                <a:spcPts val="400"/>
              </a:spcBef>
              <a:defRPr sz="1400" b="0">
                <a:solidFill>
                  <a:srgbClr val="9CA3AF"/>
                </a:solidFill>
                <a:latin typeface="Arial"/>
              </a:defRPr>
            </a:pPr>
            <a:r>
              <a:t>Doctors can still log in,</a:t>
            </a:r>
            <a:br/>
            <a:r>
              <a:t>view patients, browse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Arial"/>
              </a:defRPr>
            </a:pPr>
            <a:r>
              <a:t>Also: Python AI service has its own demo mode — if densenet121.pt weights are missing, it serves mock predictions so frontend testing can proceed.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8BDF8"/>
                </a:solidFill>
                <a:latin typeface="Arial"/>
              </a:defRPr>
            </a:pPr>
            <a:r>
              <a:t>Limitations &amp; 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7171"/>
                </a:solidFill>
                <a:latin typeface="Arial"/>
              </a:defRPr>
            </a:pPr>
            <a:r>
              <a:t>Current Limitations</a:t>
            </a:r>
          </a:p>
          <a:p>
            <a:pPr>
              <a:spcBef>
                <a:spcPts val="300"/>
              </a:spcBef>
              <a:defRPr sz="1300">
                <a:solidFill>
                  <a:srgbClr val="C8D2DC"/>
                </a:solidFill>
                <a:latin typeface="Arial"/>
              </a:defRPr>
            </a:pPr>
            <a:r>
              <a:t>✗  Dataset scope — NIH only, may vary on different equipment</a:t>
            </a:r>
          </a:p>
          <a:p>
            <a:pPr>
              <a:spcBef>
                <a:spcPts val="300"/>
              </a:spcBef>
              <a:defRPr sz="1300">
                <a:solidFill>
                  <a:srgbClr val="C8D2DC"/>
                </a:solidFill>
                <a:latin typeface="Arial"/>
              </a:defRPr>
            </a:pPr>
            <a:r>
              <a:t>✗  JPEG/PNG input only — no native DICOM support</a:t>
            </a:r>
          </a:p>
          <a:p>
            <a:pPr>
              <a:spcBef>
                <a:spcPts val="300"/>
              </a:spcBef>
              <a:defRPr sz="1300">
                <a:solidFill>
                  <a:srgbClr val="C8D2DC"/>
                </a:solidFill>
                <a:latin typeface="Arial"/>
              </a:defRPr>
            </a:pPr>
            <a:r>
              <a:t>✗  Single modality — chest X-rays only (no CT/MRI)</a:t>
            </a:r>
          </a:p>
          <a:p>
            <a:pPr>
              <a:spcBef>
                <a:spcPts val="300"/>
              </a:spcBef>
              <a:defRPr sz="1300">
                <a:solidFill>
                  <a:srgbClr val="C8D2DC"/>
                </a:solidFill>
                <a:latin typeface="Arial"/>
              </a:defRPr>
            </a:pPr>
            <a:r>
              <a:t>✗  No real-time multi-physician collaboration</a:t>
            </a:r>
          </a:p>
          <a:p>
            <a:pPr>
              <a:spcBef>
                <a:spcPts val="300"/>
              </a:spcBef>
              <a:defRPr sz="1300">
                <a:solidFill>
                  <a:srgbClr val="C8D2DC"/>
                </a:solidFill>
                <a:latin typeface="Arial"/>
              </a:defRPr>
            </a:pPr>
            <a:r>
              <a:t>✗  On-premise deployment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Arial"/>
              </a:defRPr>
            </a:pPr>
            <a:r>
              <a:t>Future Roadmap</a:t>
            </a:r>
          </a:p>
          <a:p>
            <a:pPr>
              <a:spcBef>
                <a:spcPts val="300"/>
              </a:spcBef>
              <a:defRPr sz="1300">
                <a:solidFill>
                  <a:srgbClr val="C8D2DC"/>
                </a:solidFill>
                <a:latin typeface="Arial"/>
              </a:defRPr>
            </a:pPr>
            <a:r>
              <a:t>→  DICOM &amp; PACS Integration (fo-dicom C-STORE)</a:t>
            </a:r>
          </a:p>
          <a:p>
            <a:pPr>
              <a:spcBef>
                <a:spcPts val="300"/>
              </a:spcBef>
              <a:defRPr sz="1300">
                <a:solidFill>
                  <a:srgbClr val="C8D2DC"/>
                </a:solidFill>
                <a:latin typeface="Arial"/>
              </a:defRPr>
            </a:pPr>
            <a:r>
              <a:t>→  VLM Report Writing (LLaVA-Med / Med-PaLM)</a:t>
            </a:r>
          </a:p>
          <a:p>
            <a:pPr>
              <a:spcBef>
                <a:spcPts val="300"/>
              </a:spcBef>
              <a:defRPr sz="1300">
                <a:solidFill>
                  <a:srgbClr val="C8D2DC"/>
                </a:solidFill>
                <a:latin typeface="Arial"/>
              </a:defRPr>
            </a:pPr>
            <a:r>
              <a:t>→  More Pathologies: TB (1.3M deaths/yr), Atelectasis, COPD</a:t>
            </a:r>
          </a:p>
          <a:p>
            <a:pPr>
              <a:spcBef>
                <a:spcPts val="300"/>
              </a:spcBef>
              <a:defRPr sz="1300">
                <a:solidFill>
                  <a:srgbClr val="C8D2DC"/>
                </a:solidFill>
                <a:latin typeface="Arial"/>
              </a:defRPr>
            </a:pPr>
            <a:r>
              <a:t>→  Federated Learning across hospitals</a:t>
            </a:r>
          </a:p>
          <a:p>
            <a:pPr>
              <a:spcBef>
                <a:spcPts val="300"/>
              </a:spcBef>
              <a:defRPr sz="1300">
                <a:solidFill>
                  <a:srgbClr val="C8D2DC"/>
                </a:solidFill>
                <a:latin typeface="Arial"/>
              </a:defRPr>
            </a:pPr>
            <a:r>
              <a:t>→  Cloud-Native auto-scaling deployment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8BDF8"/>
                </a:solidFill>
                <a:latin typeface="Arial"/>
              </a:defRPr>
            </a:pPr>
            <a:r>
              <a:t>Patient Education — Disease Knowledge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005840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eases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69422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217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Comprehensive disease information • Common symptoms &amp; causes • When to See a Doctor alerts • Patient-accessible (read-only role)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38BDF8"/>
                </a:solidFill>
                <a:latin typeface="Arial"/>
              </a:defRPr>
            </a:pPr>
            <a:r>
              <a:t>BreathWise</a:t>
            </a:r>
          </a:p>
          <a:p>
            <a:pPr>
              <a:spcBef>
                <a:spcPts val="400"/>
              </a:spcBef>
              <a:defRPr sz="2000" b="0">
                <a:solidFill>
                  <a:srgbClr val="C8D2DC"/>
                </a:solidFill>
                <a:latin typeface="Arial"/>
              </a:defRPr>
            </a:pPr>
            <a:r>
              <a:t>AI won't replace radiologists, but radiologists</a:t>
            </a:r>
            <a:br/>
            <a:r>
              <a:t>who use AI will replace those who don't.</a:t>
            </a:r>
          </a:p>
          <a:p>
            <a:pPr>
              <a:spcBef>
                <a:spcPts val="400"/>
              </a:spcBef>
              <a:defRPr sz="10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1400" b="0">
                <a:solidFill>
                  <a:srgbClr val="34D399"/>
                </a:solidFill>
                <a:latin typeface="Arial"/>
              </a:defRPr>
            </a:pPr>
            <a:r>
              <a:t>✅ Multi-label classification (AUC 0.91–0.96)</a:t>
            </a:r>
          </a:p>
          <a:p>
            <a:pPr>
              <a:spcBef>
                <a:spcPts val="400"/>
              </a:spcBef>
              <a:defRPr sz="1400" b="0">
                <a:solidFill>
                  <a:srgbClr val="34D399"/>
                </a:solidFill>
                <a:latin typeface="Arial"/>
              </a:defRPr>
            </a:pPr>
            <a:r>
              <a:t>✅ Explainable AI — Grad-CAM in production</a:t>
            </a:r>
          </a:p>
          <a:p>
            <a:pPr>
              <a:spcBef>
                <a:spcPts val="400"/>
              </a:spcBef>
              <a:defRPr sz="1400" b="0">
                <a:solidFill>
                  <a:srgbClr val="34D399"/>
                </a:solidFill>
                <a:latin typeface="Arial"/>
              </a:defRPr>
            </a:pPr>
            <a:r>
              <a:t>✅ Secure RBAC on all 17 API endpoints</a:t>
            </a:r>
          </a:p>
          <a:p>
            <a:pPr>
              <a:spcBef>
                <a:spcPts val="400"/>
              </a:spcBef>
              <a:defRPr sz="1400" b="0">
                <a:solidFill>
                  <a:srgbClr val="34D399"/>
                </a:solidFill>
                <a:latin typeface="Arial"/>
              </a:defRPr>
            </a:pPr>
            <a:r>
              <a:t>✅ Automated PDF reports (QuestPDF)</a:t>
            </a:r>
          </a:p>
          <a:p>
            <a:pPr>
              <a:spcBef>
                <a:spcPts val="400"/>
              </a:spcBef>
              <a:defRPr sz="1400" b="0">
                <a:solidFill>
                  <a:srgbClr val="34D399"/>
                </a:solidFill>
                <a:latin typeface="Arial"/>
              </a:defRPr>
            </a:pPr>
            <a:r>
              <a:t>✅ Real-time dashboard (7 live metrics)</a:t>
            </a:r>
          </a:p>
          <a:p>
            <a:pPr>
              <a:spcBef>
                <a:spcPts val="400"/>
              </a:spcBef>
              <a:defRPr sz="1400" b="0">
                <a:solidFill>
                  <a:srgbClr val="34D399"/>
                </a:solidFill>
                <a:latin typeface="Arial"/>
              </a:defRPr>
            </a:pPr>
            <a:r>
              <a:t>✅ Graceful degradation &amp; demo mode</a:t>
            </a:r>
          </a:p>
          <a:p>
            <a:pPr>
              <a:spcBef>
                <a:spcPts val="400"/>
              </a:spcBef>
              <a:defRPr sz="1400" b="0">
                <a:solidFill>
                  <a:srgbClr val="34D399"/>
                </a:solidFill>
                <a:latin typeface="Arial"/>
              </a:defRPr>
            </a:pPr>
            <a:r>
              <a:t>✅ HIPAA-aligned privacy (GUID, PBKDF2, JWT)</a:t>
            </a:r>
          </a:p>
          <a:p>
            <a:pPr>
              <a:spcBef>
                <a:spcPts val="400"/>
              </a:spcBef>
              <a:defRPr sz="1400" b="0">
                <a:solidFill>
                  <a:srgbClr val="34D399"/>
                </a:solidFill>
                <a:latin typeface="Arial"/>
              </a:defRPr>
            </a:pPr>
            <a:r>
              <a:t>✅ Modular, extensible REST architecture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defRPr sz="36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>
              <a:spcBef>
                <a:spcPts val="400"/>
              </a:spcBef>
              <a:defRPr sz="1600" b="0">
                <a:solidFill>
                  <a:srgbClr val="9CA3AF"/>
                </a:solidFill>
                <a:latin typeface="Arial"/>
              </a:defRPr>
            </a:pPr>
            <a:r>
              <a:t>Prof. Engy Elshafey  &amp;  Prof. Asmaa Saad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